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quote. Then pause. That sentence is the whole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decisions, every season. The information exists; the decision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the soil type and the irrigation verdict changes. That is the difference between personalization and a settings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technical slide. Rehearse hardest. Four pure functions, every one returns its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never writes advice. It returns a disease code and a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take one thing from this deck, take this slide. 0.96 in the lab, 0.13 in the field. Most projects never measure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mandi is not a crop. Farm-first, not crop-first.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farmer who is misled once never opens the app again. Trust is the retention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live: turn every external API off. Rehearse hardest.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full adversarial audit against a live instance with real HTTP. The demo runs production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Designed for a dusty screen in bright sunlight, on a phone, by someone who may not read fluently.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 REST routes, documented from an ownership table a test asserts against the live router. Every service is free-tier.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plainly. A team that knows exactly what it has not done is more credible than one that claims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principle. Never show a farmer a number we cannot stand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37903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FB9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HACKINMOTION 2026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700498" y="952500"/>
            <a:ext cx="289850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FB9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HIM-1096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480495"/>
            <a:ext cx="1802130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61"/>
              </a:lnSpc>
              <a:buNone/>
            </a:pPr>
            <a:r>
              <a:rPr lang="en-US" sz="13500" b="1" spc="-405" kern="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Khetri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952500" y="5328345"/>
            <a:ext cx="180213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Farm Decision Support System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" y="8046839"/>
            <a:ext cx="25003" cy="1287661"/>
          </a:xfrm>
          <a:prstGeom prst="rect">
            <a:avLst/>
          </a:prstGeom>
          <a:solidFill>
            <a:srgbClr val="C98F2B"/>
          </a:solidFill>
          <a:ln/>
        </p:spPr>
      </p:sp>
      <p:sp>
        <p:nvSpPr>
          <p:cNvPr id="7" name="Text 5"/>
          <p:cNvSpPr/>
          <p:nvPr/>
        </p:nvSpPr>
        <p:spPr>
          <a:xfrm>
            <a:off x="1358503" y="8046839"/>
            <a:ext cx="13316867" cy="1325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76"/>
              </a:lnSpc>
              <a:buNone/>
            </a:pPr>
            <a:r>
              <a:rPr lang="en-US" sz="3900" i="1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farmer's biggest risk isn't hard work — it's making the wrong decision at the wrong time.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71625"/>
            <a:ext cx="11772900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makes five high-stakes decisions every season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476625"/>
            <a:ext cx="898207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4324350"/>
            <a:ext cx="898207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695700"/>
            <a:ext cx="47725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I plant?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5595938" y="3695700"/>
            <a:ext cx="47725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crop → a lost season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5172075"/>
            <a:ext cx="898207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543425"/>
            <a:ext cx="47725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I irrigate?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595938" y="4543425"/>
            <a:ext cx="47725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window → yield loss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6019800"/>
            <a:ext cx="898207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5391150"/>
            <a:ext cx="47725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weather a threat?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595938" y="5391150"/>
            <a:ext cx="47725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warning → ruined harvest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" y="6867525"/>
            <a:ext cx="898207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6238875"/>
            <a:ext cx="47725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my crop sick?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5595938" y="6238875"/>
            <a:ext cx="47725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detection → it spreads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52500" y="8134350"/>
            <a:ext cx="898207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7086600"/>
            <a:ext cx="446879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I sell?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5595938" y="7086600"/>
            <a:ext cx="446879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day → someone else's margin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696575" y="3552825"/>
            <a:ext cx="6838093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that would answer these already exists — forecasts, soil data, mandi rates, agronomic guidance. It is scattered across a dozen sources, in the wrong language, at the wrong reading level, at the wrong moment.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696575" y="6038850"/>
            <a:ext cx="6638925" cy="1739205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22" name="Text 20"/>
          <p:cNvSpPr/>
          <p:nvPr/>
        </p:nvSpPr>
        <p:spPr>
          <a:xfrm>
            <a:off x="11077575" y="6419850"/>
            <a:ext cx="6076093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02"/>
              </a:lnSpc>
              <a:buNone/>
            </a:pPr>
            <a:r>
              <a:rPr lang="en-US" sz="28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not data. It is a decision, delivered in time.</a:t>
            </a:r>
            <a:endParaRPr lang="en-US" sz="2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685925"/>
            <a:ext cx="94507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question, answered on open: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52500" y="2247900"/>
            <a:ext cx="9450705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77"/>
              </a:lnSpc>
              <a:buNone/>
            </a:pPr>
            <a:r>
              <a:rPr lang="en-US" sz="7200" dirty="0">
                <a:solidFill>
                  <a:srgbClr val="1B5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I act on today?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306050" y="2257425"/>
            <a:ext cx="7240334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sets up their field once — location, size, soil, water source, crops — and every recommendation after that is specific to </a:t>
            </a:r>
            <a:pPr algn="l" indent="0" marL="0">
              <a:lnSpc>
                <a:spcPct val="129730"/>
              </a:lnSpc>
              <a:buNone/>
            </a:pPr>
            <a:r>
              <a:rPr lang="en-US" sz="2400" i="1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field</a:t>
            </a:r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6970514"/>
            <a:ext cx="5257800" cy="2554486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3025" y="7361039"/>
            <a:ext cx="49244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B4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CLIENTS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43025" y="7837289"/>
            <a:ext cx="4611052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(React + Vite) and Android (React Native + Expo)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43025" y="8782050"/>
            <a:ext cx="49244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one REST contract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15100" y="6970514"/>
            <a:ext cx="5257800" cy="2554486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5625" y="7361039"/>
            <a:ext cx="49244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B4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05625" y="7837289"/>
            <a:ext cx="492442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and Hindi throughout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05625" y="8385870"/>
            <a:ext cx="49244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text-to-speech readout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077700" y="6970514"/>
            <a:ext cx="5257800" cy="2554486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68225" y="7361039"/>
            <a:ext cx="49244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B4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CONNECTIVITY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468225" y="7837289"/>
            <a:ext cx="492442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Offline-cached reads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468225" y="8385870"/>
            <a:ext cx="461105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still answers on a dead connection, and says so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517752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DECISION ENGINE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00175"/>
            <a:ext cx="517752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pure functions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360140" y="1310878"/>
            <a:ext cx="597536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· unit-tested · no I/O every one returns the numbers behind its verdict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8058150" cy="40180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6485037"/>
            <a:ext cx="80581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476500"/>
            <a:ext cx="80581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476500"/>
            <a:ext cx="57150" cy="4018062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9" name="Shape 7"/>
          <p:cNvSpPr/>
          <p:nvPr/>
        </p:nvSpPr>
        <p:spPr>
          <a:xfrm>
            <a:off x="9001125" y="2476500"/>
            <a:ext cx="9525" cy="4018062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2828925"/>
            <a:ext cx="80362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B5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IRRIGATION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52550" y="3286125"/>
            <a:ext cx="80362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agronomy, not "it might rain"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52550" y="3771900"/>
            <a:ext cx="7524845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FAO-56 soil-water balance: reference evapotranspiration × crop coefficient for the derived growth stage, against the soil's available water and root depth, replayed over logged waterings and projected across the forecast.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52550" y="5475387"/>
            <a:ext cx="752484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B5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"Wait — 31 mm expected over two days clears a 22 mm deficit."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277350" y="2476500"/>
            <a:ext cx="8058150" cy="40180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277350" y="6485037"/>
            <a:ext cx="80581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6" name="Shape 14"/>
          <p:cNvSpPr/>
          <p:nvPr/>
        </p:nvSpPr>
        <p:spPr>
          <a:xfrm>
            <a:off x="9277350" y="2476500"/>
            <a:ext cx="80581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7" name="Shape 15"/>
          <p:cNvSpPr/>
          <p:nvPr/>
        </p:nvSpPr>
        <p:spPr>
          <a:xfrm>
            <a:off x="9277350" y="2476500"/>
            <a:ext cx="57150" cy="4018062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18" name="Shape 16"/>
          <p:cNvSpPr/>
          <p:nvPr/>
        </p:nvSpPr>
        <p:spPr>
          <a:xfrm>
            <a:off x="17325975" y="2476500"/>
            <a:ext cx="9525" cy="4018062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9" name="Text 17"/>
          <p:cNvSpPr/>
          <p:nvPr/>
        </p:nvSpPr>
        <p:spPr>
          <a:xfrm>
            <a:off x="9677400" y="2828925"/>
            <a:ext cx="80362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B5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WEATHER RISK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677400" y="3286125"/>
            <a:ext cx="80362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crop, per day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77400" y="3771900"/>
            <a:ext cx="7524845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published crop sensitivities. The response states whether the threshold was crop-specific or a generic default — those are different claims and we never merge them.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6761262"/>
            <a:ext cx="8058150" cy="28589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52500" y="9610725"/>
            <a:ext cx="80581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500" y="6761262"/>
            <a:ext cx="80581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" y="6761262"/>
            <a:ext cx="57150" cy="2858988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1125" y="6761262"/>
            <a:ext cx="9525" cy="2858988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27" name="Text 25"/>
          <p:cNvSpPr/>
          <p:nvPr/>
        </p:nvSpPr>
        <p:spPr>
          <a:xfrm>
            <a:off x="1352550" y="7113687"/>
            <a:ext cx="80362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B5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MARKET SIGNAL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52550" y="7570887"/>
            <a:ext cx="80362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 what prices have already done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352550" y="8056662"/>
            <a:ext cx="8036243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 forecast. There is no endpoint that could make one.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277350" y="6761262"/>
            <a:ext cx="8058150" cy="28589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277350" y="9610725"/>
            <a:ext cx="80581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32" name="Shape 30"/>
          <p:cNvSpPr/>
          <p:nvPr/>
        </p:nvSpPr>
        <p:spPr>
          <a:xfrm>
            <a:off x="9277350" y="6761262"/>
            <a:ext cx="80581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33" name="Shape 31"/>
          <p:cNvSpPr/>
          <p:nvPr/>
        </p:nvSpPr>
        <p:spPr>
          <a:xfrm>
            <a:off x="9277350" y="6761262"/>
            <a:ext cx="57150" cy="2858988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34" name="Shape 32"/>
          <p:cNvSpPr/>
          <p:nvPr/>
        </p:nvSpPr>
        <p:spPr>
          <a:xfrm>
            <a:off x="17325975" y="6761262"/>
            <a:ext cx="9525" cy="2858988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35" name="Text 33"/>
          <p:cNvSpPr/>
          <p:nvPr/>
        </p:nvSpPr>
        <p:spPr>
          <a:xfrm>
            <a:off x="9677400" y="7113687"/>
            <a:ext cx="80362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B5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CROP RECOMMENDATION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677400" y="7570887"/>
            <a:ext cx="80362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· soil · water · temperature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677400" y="8056662"/>
            <a:ext cx="7524845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0.30 / 0.25 / 0.30 / 0.15. A factor with no data is dropped, not guessed at, and the response reports how much of the weight was actually backed by evidence.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 HEALTH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00175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chain, not a model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476500"/>
            <a:ext cx="8622060" cy="71437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3025" y="3567113"/>
            <a:ext cx="8625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32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→ sanitize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685925" y="4033837"/>
            <a:ext cx="8282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 bytes · bomb guard · re-encode → EXIF stripped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3025" y="4471988"/>
            <a:ext cx="8625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32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cache </a:t>
            </a:r>
            <a:pPr algn="l" indent="0" marL="0">
              <a:buNone/>
            </a:pPr>
            <a:r>
              <a:rPr lang="en-US" sz="2025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user + crop + image hash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343025" y="4938713"/>
            <a:ext cx="8625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32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store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343025" y="5481638"/>
            <a:ext cx="784101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0" name="Text 8"/>
          <p:cNvSpPr/>
          <p:nvPr/>
        </p:nvSpPr>
        <p:spPr>
          <a:xfrm>
            <a:off x="1343025" y="5700713"/>
            <a:ext cx="8625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B5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Tier 1 local ONNX model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343025" y="6167438"/>
            <a:ext cx="8625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B5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Tier 2 Gemini Vision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343025" y="6634163"/>
            <a:ext cx="8625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B5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Tier 3 OpenRouter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343025" y="7100888"/>
            <a:ext cx="8625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4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Tier 4 guided symptom rules ← always answers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343025" y="7643813"/>
            <a:ext cx="784101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5" name="Text 13"/>
          <p:cNvSpPr/>
          <p:nvPr/>
        </p:nvSpPr>
        <p:spPr>
          <a:xfrm>
            <a:off x="1343025" y="7862888"/>
            <a:ext cx="807624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32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confidence gate + severity engine + sourced guidance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0241310" y="3736181"/>
            <a:ext cx="730701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tier that declines is recorded with its reason and shown to the farmer.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241310" y="4869656"/>
            <a:ext cx="709419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310" y="5183981"/>
            <a:ext cx="780360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3000" b="1" dirty="0">
                <a:solidFill>
                  <a:srgbClr val="1B5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never writes advice.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241310" y="5984081"/>
            <a:ext cx="7307016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returns a disease code and a confidence. The farmer-facing text comes from a sourced TNAU/ICAR knowledge base by i18n key.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241310" y="7531894"/>
            <a:ext cx="730701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uncertain result stays uncertain — it is never forced into a prediction.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078462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FB9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ML, HONESTLY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00175"/>
            <a:ext cx="1078462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EfficientNet-B0, trained on our own GPU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6480" y="1310878"/>
            <a:ext cx="589902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39,960 deduplicated images · 36 classes source-stratified splits · temperature-calibrated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9036844" cy="9525"/>
          </a:xfrm>
          <a:prstGeom prst="rect">
            <a:avLst/>
          </a:prstGeom>
          <a:solidFill>
            <a:srgbClr val="3D7154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238500"/>
            <a:ext cx="9036844" cy="9525"/>
          </a:xfrm>
          <a:prstGeom prst="rect">
            <a:avLst/>
          </a:prstGeom>
          <a:solidFill>
            <a:srgbClr val="3D7154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676525"/>
            <a:ext cx="286477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macro-F1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960346" y="2676525"/>
            <a:ext cx="11051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7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0.9556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4000500"/>
            <a:ext cx="9036844" cy="9525"/>
          </a:xfrm>
          <a:prstGeom prst="rect">
            <a:avLst/>
          </a:prstGeom>
          <a:solidFill>
            <a:srgbClr val="3D7154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3438525"/>
            <a:ext cx="23813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(ECE)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187851" y="3438525"/>
            <a:ext cx="528164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7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0.0837 → 0.0042 (T = 0.5863)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4762500"/>
            <a:ext cx="9036844" cy="9525"/>
          </a:xfrm>
          <a:prstGeom prst="rect">
            <a:avLst/>
          </a:prstGeom>
          <a:solidFill>
            <a:srgbClr val="3D7154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200525"/>
            <a:ext cx="34394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In-domain test accuracy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960346" y="4200525"/>
            <a:ext cx="11051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7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0.9632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762000" y="4772025"/>
            <a:ext cx="9417844" cy="714375"/>
          </a:xfrm>
          <a:prstGeom prst="rect">
            <a:avLst/>
          </a:prstGeom>
          <a:solidFill>
            <a:srgbClr val="B4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476875"/>
            <a:ext cx="9417844" cy="9525"/>
          </a:xfrm>
          <a:prstGeom prst="rect">
            <a:avLst/>
          </a:prstGeom>
          <a:solidFill>
            <a:srgbClr val="3D7154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962525"/>
            <a:ext cx="47341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Field-domain (PlantDoc) accuracy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960346" y="4962525"/>
            <a:ext cx="11051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0.1257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" y="6238875"/>
            <a:ext cx="9036844" cy="9525"/>
          </a:xfrm>
          <a:prstGeom prst="rect">
            <a:avLst/>
          </a:prstGeom>
          <a:solidFill>
            <a:srgbClr val="3D7154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5676900"/>
            <a:ext cx="174515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parity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4673501" y="5676900"/>
            <a:ext cx="584742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7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|Δp| 1.55e-05, 0 mismatches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500" y="7000875"/>
            <a:ext cx="9036844" cy="9525"/>
          </a:xfrm>
          <a:prstGeom prst="rect">
            <a:avLst/>
          </a:prstGeom>
          <a:solidFill>
            <a:srgbClr val="3D7154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6438900"/>
            <a:ext cx="14639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gates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8274546" y="6438900"/>
            <a:ext cx="188627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7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5 pass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656094" y="2552700"/>
            <a:ext cx="6879788" cy="978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84"/>
              </a:lnSpc>
              <a:buNone/>
            </a:pPr>
            <a:r>
              <a:rPr lang="en-US" sz="285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at 0.96 in the lab scores 0.13 on real field photographs.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0656094" y="3760291"/>
            <a:ext cx="687978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projects never measure it, so they never report it.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656094" y="4855666"/>
            <a:ext cx="6879788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measured it — which is precisely why the Gemini tier is load-bearing rather than decorative, and why a farmer sees "AI-assisted" instead of a confident wrong answer.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96086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INTELLIGENCE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00175"/>
            <a:ext cx="960868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mandi prices, officially licensed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477750" y="1447800"/>
            <a:ext cx="4857750" cy="609600"/>
          </a:xfrm>
          <a:prstGeom prst="rect">
            <a:avLst/>
          </a:prstGeom>
          <a:ln w="9525">
            <a:solidFill>
              <a:srgbClr val="1B56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77775" y="1590675"/>
            <a:ext cx="46034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5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data.gov.in · AGMARKNET · GODL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" y="2514600"/>
            <a:ext cx="7905750" cy="19050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743200"/>
            <a:ext cx="86963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Farm-first, not crop-first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" y="3228975"/>
            <a:ext cx="814292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mandi is not a crop: one carries nine commodities. We show the whole basket for the mandis near your field.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429750" y="2514600"/>
            <a:ext cx="7905750" cy="19050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10" name="Text 8"/>
          <p:cNvSpPr/>
          <p:nvPr/>
        </p:nvSpPr>
        <p:spPr>
          <a:xfrm>
            <a:off x="9429750" y="2743200"/>
            <a:ext cx="86963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crops highlighted, every other price still visible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429750" y="3228975"/>
            <a:ext cx="814292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growing onion still sells into a market trading wheat and soybean.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4268986"/>
            <a:ext cx="7905750" cy="19050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497586"/>
            <a:ext cx="86963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quiet mandi is shown, not hidden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52500" y="4983361"/>
            <a:ext cx="814292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Dashed, labelled "published nothing in the last seven days", so its silence is information rather than an absence.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429750" y="4268986"/>
            <a:ext cx="7905750" cy="19050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16" name="Text 14"/>
          <p:cNvSpPr/>
          <p:nvPr/>
        </p:nvSpPr>
        <p:spPr>
          <a:xfrm>
            <a:off x="9429750" y="4497586"/>
            <a:ext cx="86963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distances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429750" y="4983361"/>
            <a:ext cx="814292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Agmarknet publishes no mandi coordinates, so we say "in your district", never a fabricated "12 km".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2500" y="8090595"/>
            <a:ext cx="16383000" cy="15296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52500" y="9610725"/>
            <a:ext cx="1638300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20" name="Shape 18"/>
          <p:cNvSpPr/>
          <p:nvPr/>
        </p:nvSpPr>
        <p:spPr>
          <a:xfrm>
            <a:off x="952500" y="8090595"/>
            <a:ext cx="1638300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8090595"/>
            <a:ext cx="57150" cy="1529655"/>
          </a:xfrm>
          <a:prstGeom prst="rect">
            <a:avLst/>
          </a:prstGeom>
          <a:solidFill>
            <a:srgbClr val="C98F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7325975" y="8090595"/>
            <a:ext cx="9525" cy="152965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23" name="Text 21"/>
          <p:cNvSpPr/>
          <p:nvPr/>
        </p:nvSpPr>
        <p:spPr>
          <a:xfrm>
            <a:off x="1390650" y="8423970"/>
            <a:ext cx="16045815" cy="901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23281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pPr algn="l" indent="0" marL="0">
              <a:lnSpc>
                <a:spcPct val="121081"/>
              </a:lnSpc>
              <a:buNone/>
            </a:pPr>
            <a:r>
              <a:rPr lang="en-US" sz="2400" i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plant </a:t>
            </a:r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23281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market availability is a hard eligibility gate: a crop no reachable mandi has priced is excluded with a stated reason, never ranked with an empty price column.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00175"/>
            <a:ext cx="12753975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data-bearing surface carries an honesty label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886075"/>
            <a:ext cx="180213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contract, not a UI flourish.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3638550"/>
            <a:ext cx="1317427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8725" y="3819525"/>
            <a:ext cx="84117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2422327" y="3638550"/>
            <a:ext cx="1769566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8552" y="3819525"/>
            <a:ext cx="12933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Cached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344293" y="3638550"/>
            <a:ext cx="2044005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0518" y="3819525"/>
            <a:ext cx="15677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Historical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540698" y="3638550"/>
            <a:ext cx="1854696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6923" y="3819525"/>
            <a:ext cx="13784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Pending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8547795" y="3638550"/>
            <a:ext cx="1854994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4020" y="3819525"/>
            <a:ext cx="13787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Local AI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555188" y="3638550"/>
            <a:ext cx="228853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31413" y="3819525"/>
            <a:ext cx="18122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AI-assisted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2996118" y="3638550"/>
            <a:ext cx="3356967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72343" y="3819525"/>
            <a:ext cx="290522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Guided assessment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" y="7362825"/>
            <a:ext cx="1638300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7715250"/>
            <a:ext cx="814292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recommendation shows its </a:t>
            </a:r>
            <a:pPr algn="l" indent="0" marL="0">
              <a:lnSpc>
                <a:spcPct val="127941"/>
              </a:lnSpc>
              <a:buNone/>
            </a:pPr>
            <a:r>
              <a:rPr lang="en-US" sz="22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actual numbers, on the page, not behind a "why?" nobody opens.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429750" y="7715250"/>
            <a:ext cx="814292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agronomic figure carries its </a:t>
            </a:r>
            <a:pPr algn="l" indent="0" marL="0">
              <a:lnSpc>
                <a:spcPct val="127941"/>
              </a:lnSpc>
              <a:buNone/>
            </a:pPr>
            <a:r>
              <a:rPr lang="en-US" sz="22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ICAR · TNAU · PAU · FAO-56.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52500" y="8782050"/>
            <a:ext cx="814292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b="1" dirty="0">
                <a:solidFill>
                  <a:srgbClr val="B4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AI-authored dosages, ever.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pesticide name or quantity comes from a model.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429750" y="8782050"/>
            <a:ext cx="814292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is </a:t>
            </a:r>
            <a:pPr algn="l" indent="0" marL="0">
              <a:lnSpc>
                <a:spcPct val="127941"/>
              </a:lnSpc>
              <a:buNone/>
            </a:pPr>
            <a:r>
              <a:rPr lang="en-US" sz="22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filled with a plausible number.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RESILIENCE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00175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external provider is assumed to fail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971800"/>
            <a:ext cx="8643938" cy="19050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514600"/>
            <a:ext cx="40246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839891" y="2514600"/>
            <a:ext cx="52322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3848100"/>
            <a:ext cx="8643938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3219450"/>
            <a:ext cx="40246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39891" y="3219450"/>
            <a:ext cx="523220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OpenWeatherMap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2500" y="4714875"/>
            <a:ext cx="8643938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086225"/>
            <a:ext cx="40246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data.gov.in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39891" y="4086225"/>
            <a:ext cx="523220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cache → seeded history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" y="5981700"/>
            <a:ext cx="8643938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4953000"/>
            <a:ext cx="376855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39891" y="4953000"/>
            <a:ext cx="489924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Gemini → OpenRouter → local rules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263188" y="2514600"/>
            <a:ext cx="7284482" cy="1290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paths never call a provider.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jobs ingest with validate-then-cache; a failed fetch never overwrites last-known-good.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263188" y="4014788"/>
            <a:ext cx="728448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degraded state is labelled, never disguised as fresh.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263188" y="5091113"/>
            <a:ext cx="7284482" cy="867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Failure-injection flags (</a:t>
            </a:r>
            <a:pPr algn="l" indent="0" marL="0">
              <a:lnSpc>
                <a:spcPct val="127941"/>
              </a:lnSpc>
              <a:buNone/>
            </a:pPr>
            <a:r>
              <a:rPr lang="en-US" sz="2100" dirty="0">
                <a:solidFill>
                  <a:srgbClr val="4A5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FORCE_FAIL_*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let us prove it on stage.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" y="8060234"/>
            <a:ext cx="16383000" cy="1560016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8516392"/>
            <a:ext cx="154647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FB9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3108573" y="8403134"/>
            <a:ext cx="14261305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every external API off. The app keeps answering — and tells the farmer exactly what it is working from.</a:t>
            </a:r>
            <a:endParaRPr lang="en-US" sz="2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08039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00175"/>
            <a:ext cx="1080394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adversarial audit, on a live instance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778880" y="1704975"/>
            <a:ext cx="35566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HTTP, not a static scan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3924300" cy="294084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90825"/>
            <a:ext cx="362521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dirty="0">
                <a:solidFill>
                  <a:srgbClr val="B4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266825" y="3609975"/>
            <a:ext cx="3394519" cy="1531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vulnerabilities found and fixed — each with a regression test that fails against the pre-fix code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105400" y="2476500"/>
            <a:ext cx="3924300" cy="294084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9725" y="2790825"/>
            <a:ext cx="362521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dirty="0">
                <a:solidFill>
                  <a:srgbClr val="1B5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66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5419725" y="3609975"/>
            <a:ext cx="339451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ZAP baseline — 0 FAIL, 66 PASS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258300" y="2476500"/>
            <a:ext cx="3924300" cy="294084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72625" y="2790825"/>
            <a:ext cx="362521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dirty="0">
                <a:solidFill>
                  <a:srgbClr val="1B5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/ 86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9572625" y="3609975"/>
            <a:ext cx="362521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probe suite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3411200" y="2476500"/>
            <a:ext cx="3924300" cy="294084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25525" y="2790825"/>
            <a:ext cx="362521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dirty="0">
                <a:solidFill>
                  <a:srgbClr val="1B5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13725525" y="3609975"/>
            <a:ext cx="339451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Gitleaks secret scanning, full history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2500" y="7055793"/>
            <a:ext cx="1638300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7389168"/>
            <a:ext cx="8142923" cy="1249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bcrypt-12 · rotating refresh tokens with reuse detection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9429750" y="7389168"/>
            <a:ext cx="8142923" cy="1249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enforced in the query, never after: another farmer's field is a </a:t>
            </a:r>
            <a:pPr algn="l" indent="0" marL="0">
              <a:lnSpc>
                <a:spcPct val="127424"/>
              </a:lnSpc>
              <a:buNone/>
            </a:pPr>
            <a:r>
              <a:rPr lang="en-US" sz="2175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404, not a 403 </a:t>
            </a:r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 never confirm a resource we will not serve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52500" y="8809732"/>
            <a:ext cx="8142923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Uploads: magic-byte sniff → bomb guard → full re-encode, EXIF and GPS stripped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9429750" y="8809732"/>
            <a:ext cx="8142923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b="1" dirty="0">
                <a:solidFill>
                  <a:srgbClr val="B4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admin surface. No demo bypass. No backdoor. </a:t>
            </a:r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runs production security.</a:t>
            </a:r>
            <a:endParaRPr lang="en-US" sz="21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ACCESSIBILITY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00175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farmer, not the judge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514600"/>
            <a:ext cx="20955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5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1,489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3124200" y="2562225"/>
            <a:ext cx="5857018" cy="124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keys in Hindi and English, </a:t>
            </a:r>
            <a:pPr algn="l" indent="0" marL="0">
              <a:lnSpc>
                <a:spcPct val="123529"/>
              </a:lnSpc>
              <a:buNone/>
            </a:pPr>
            <a:r>
              <a:rPr lang="en-US" sz="22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missing </a:t>
            </a:r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parity gated in CI. Zero hardcoded strings, enforced by a repo script.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4057650"/>
            <a:ext cx="785812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352925"/>
            <a:ext cx="20955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5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2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3124200" y="4400550"/>
            <a:ext cx="58570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taps to a verdict. Icon + colour + text, never colour alone.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5486400"/>
            <a:ext cx="785812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5781675"/>
            <a:ext cx="20955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5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3124200" y="5829300"/>
            <a:ext cx="395361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with voice readout.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477375" y="2514600"/>
            <a:ext cx="7858125" cy="2756297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2867025"/>
            <a:ext cx="78686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alerts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829800" y="3371850"/>
            <a:ext cx="7367873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District-aggregated, consent-gated, structurally PII-free. No write API: only a scheduled job that counts ≥3 distinct farmers can raise an alert, so it cannot be gamed from a browser.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477375" y="5537597"/>
            <a:ext cx="8093869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3300" dirty="0">
                <a:solidFill>
                  <a:srgbClr val="1B5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a dusty screen in bright sunlight, on a phone, by someone who may not read fluently.</a:t>
            </a:r>
            <a:endParaRPr lang="en-US" sz="3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&amp; STACK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952500" y="1552575"/>
            <a:ext cx="9091613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66825" y="1809750"/>
            <a:ext cx="930925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 </a:t>
            </a:r>
            <a:pPr algn="l" indent="0" marL="0">
              <a:buNone/>
            </a:pPr>
            <a:r>
              <a:rPr lang="en-US" sz="2325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(web) </a:t>
            </a:r>
            <a:pPr algn="l" indent="0" marL="0">
              <a:buNone/>
            </a:pPr>
            <a:r>
              <a:rPr lang="en-US" sz="2325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React Native + Expo SDK 54 </a:t>
            </a:r>
            <a:pPr algn="l" indent="0" marL="0">
              <a:buNone/>
            </a:pPr>
            <a:r>
              <a:rPr lang="en-US" sz="2325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(Android)</a:t>
            </a:r>
            <a:endParaRPr lang="en-US" sz="2325" dirty="0"/>
          </a:p>
        </p:txBody>
      </p:sp>
      <p:sp>
        <p:nvSpPr>
          <p:cNvPr id="5" name="Text 3"/>
          <p:cNvSpPr/>
          <p:nvPr/>
        </p:nvSpPr>
        <p:spPr>
          <a:xfrm>
            <a:off x="1257300" y="2590800"/>
            <a:ext cx="969597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5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3095625"/>
            <a:ext cx="9091613" cy="124777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6825" y="3352800"/>
            <a:ext cx="93092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20 / Express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266825" y="3752850"/>
            <a:ext cx="93092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· ownership middleware · Zod validation · rate limits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57300" y="4476750"/>
            <a:ext cx="969597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5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981575"/>
            <a:ext cx="9091613" cy="124777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6825" y="5238750"/>
            <a:ext cx="93092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1266825" y="5638800"/>
            <a:ext cx="93092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collections · every owned document carries userId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257300" y="6362700"/>
            <a:ext cx="969597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5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2500" y="6867525"/>
            <a:ext cx="9091613" cy="124777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6825" y="7124700"/>
            <a:ext cx="93092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ONNX ml-service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1266825" y="7524750"/>
            <a:ext cx="93092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only · X-Service-Key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0615613" y="3094286"/>
            <a:ext cx="7391876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0" b="1" dirty="0">
                <a:solidFill>
                  <a:srgbClr val="1B5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7500" dirty="0"/>
          </a:p>
        </p:txBody>
      </p:sp>
      <p:sp>
        <p:nvSpPr>
          <p:cNvPr id="18" name="Text 16"/>
          <p:cNvSpPr/>
          <p:nvPr/>
        </p:nvSpPr>
        <p:spPr>
          <a:xfrm>
            <a:off x="10615613" y="4161086"/>
            <a:ext cx="6921484" cy="2111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routes, documented in </a:t>
            </a:r>
            <a:pPr algn="l" indent="0" marL="0">
              <a:lnSpc>
                <a:spcPct val="127941"/>
              </a:lnSpc>
              <a:buNone/>
            </a:pPr>
            <a:r>
              <a:rPr lang="en-US" sz="2100" dirty="0">
                <a:solidFill>
                  <a:srgbClr val="4A50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api-documentation.md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transcribed from an ownership table that a test asserts against the live router — so the docs cannot drift from the code without the build failing.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615613" y="6539359"/>
            <a:ext cx="6719888" cy="1539180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20" name="Text 18"/>
          <p:cNvSpPr/>
          <p:nvPr/>
        </p:nvSpPr>
        <p:spPr>
          <a:xfrm>
            <a:off x="10996613" y="6863209"/>
            <a:ext cx="6159484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service is free-tier. Zero cost. No credit card.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00175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done, and what is not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476500"/>
            <a:ext cx="82353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Feature-complete on both clients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2905125"/>
            <a:ext cx="77112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9 must-haves + all 6 challenge capabilities, verified by real runs.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857625"/>
            <a:ext cx="74866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038600"/>
            <a:ext cx="18168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209854" y="4038600"/>
            <a:ext cx="245222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32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1,566 / 1,566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4581525"/>
            <a:ext cx="74866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4762500"/>
            <a:ext cx="148813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client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95802" y="4762500"/>
            <a:ext cx="169768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32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131 / 131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5305425"/>
            <a:ext cx="74866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5486400"/>
            <a:ext cx="19709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client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895802" y="5486400"/>
            <a:ext cx="169768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32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/ 110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6762750"/>
            <a:ext cx="74866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" y="6029325"/>
            <a:ext cx="7486650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6210300"/>
            <a:ext cx="14884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ml-service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352901" y="6210300"/>
            <a:ext cx="33948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32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143 </a:t>
            </a:r>
            <a:pPr algn="l" indent="0" marL="0">
              <a:buNone/>
            </a:pPr>
            <a:r>
              <a:rPr lang="en-US" sz="2250" dirty="0">
                <a:solidFill>
                  <a:srgbClr val="6B7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 known drift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" y="7000875"/>
            <a:ext cx="7711250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Gates: lint 0 errors · both typechecks clean · i18n parity · 0 hardcoded strings · Gitleaks clean · production build green.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010650" y="2476500"/>
            <a:ext cx="8324850" cy="7143750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21" name="Text 19"/>
          <p:cNvSpPr/>
          <p:nvPr/>
        </p:nvSpPr>
        <p:spPr>
          <a:xfrm>
            <a:off x="9429750" y="2895600"/>
            <a:ext cx="82353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FB9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DONE, AND WE WILL NOT CLAIM IT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429750" y="3429000"/>
            <a:ext cx="771125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deployed and no phone has run the app.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429750" y="4530030"/>
            <a:ext cx="7711250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is deliberately held until the qualifier result — every free tier starts burning a finite window the moment it is provisioned.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9429750" y="5941070"/>
            <a:ext cx="7711250" cy="1249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it needs is committed and locally proven: </a:t>
            </a:r>
            <a:pPr algn="l" indent="0" marL="0">
              <a:lnSpc>
                <a:spcPct val="127424"/>
              </a:lnSpc>
              <a:buNone/>
            </a:pPr>
            <a:r>
              <a:rPr lang="en-US" sz="2025" dirty="0">
                <a:solidFill>
                  <a:srgbClr val="CFE0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render.yaml</a:t>
            </a:r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env checklist, and a smoke suite passing </a:t>
            </a:r>
            <a:pPr algn="l" indent="0" marL="0">
              <a:lnSpc>
                <a:spcPct val="127424"/>
              </a:lnSpc>
              <a:buNone/>
            </a:pPr>
            <a:r>
              <a:rPr lang="en-US" sz="2175" b="1" dirty="0">
                <a:solidFill>
                  <a:srgbClr val="F7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18/18 </a:t>
            </a:r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C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a production-mode server on a real database.</a:t>
            </a:r>
            <a:endParaRPr lang="en-US" sz="21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86439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19225"/>
            <a:ext cx="8093869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33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opens one app and knows what to do, why, and how sure we are.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52500" y="2680097"/>
            <a:ext cx="864393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4A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their language. On a bad connection.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477375" y="857250"/>
            <a:ext cx="86439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8A8D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477375" y="1419225"/>
            <a:ext cx="785812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7" name="Text 5"/>
          <p:cNvSpPr/>
          <p:nvPr/>
        </p:nvSpPr>
        <p:spPr>
          <a:xfrm>
            <a:off x="9477375" y="1600200"/>
            <a:ext cx="80938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+ demo seed </a:t>
            </a:r>
            <a:pPr algn="l" indent="0" marL="0">
              <a:buNone/>
            </a:pPr>
            <a:r>
              <a:rPr lang="en-US" sz="225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hours away, everything is prepared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477375" y="2143125"/>
            <a:ext cx="785812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9" name="Text 7"/>
          <p:cNvSpPr/>
          <p:nvPr/>
        </p:nvSpPr>
        <p:spPr>
          <a:xfrm>
            <a:off x="9477375" y="2324100"/>
            <a:ext cx="809386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estimator </a:t>
            </a:r>
            <a:pPr algn="l" indent="0" marL="0">
              <a:buNone/>
            </a:pPr>
            <a:r>
              <a:rPr lang="en-US" sz="2250" dirty="0">
                <a:solidFill>
                  <a:srgbClr val="6B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specified, not built; we will not ship a number we cannot source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77375" y="3238500"/>
            <a:ext cx="785812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1" name="Text 9"/>
          <p:cNvSpPr/>
          <p:nvPr/>
        </p:nvSpPr>
        <p:spPr>
          <a:xfrm>
            <a:off x="9477375" y="3419475"/>
            <a:ext cx="80938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TFLite for offline diagnosis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477375" y="3962400"/>
            <a:ext cx="785812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3" name="Text 11"/>
          <p:cNvSpPr/>
          <p:nvPr/>
        </p:nvSpPr>
        <p:spPr>
          <a:xfrm>
            <a:off x="9477375" y="4143375"/>
            <a:ext cx="80938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crops — SoyNet identified for soybean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477375" y="5410200"/>
            <a:ext cx="785812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5" name="Shape 13"/>
          <p:cNvSpPr/>
          <p:nvPr/>
        </p:nvSpPr>
        <p:spPr>
          <a:xfrm>
            <a:off x="9477375" y="4686300"/>
            <a:ext cx="7858125" cy="9525"/>
          </a:xfrm>
          <a:prstGeom prst="rect">
            <a:avLst/>
          </a:prstGeom>
          <a:solidFill>
            <a:srgbClr val="E6E0CE"/>
          </a:solidFill>
          <a:ln/>
        </p:spPr>
      </p:sp>
      <p:sp>
        <p:nvSpPr>
          <p:cNvPr id="16" name="Text 14"/>
          <p:cNvSpPr/>
          <p:nvPr/>
        </p:nvSpPr>
        <p:spPr>
          <a:xfrm>
            <a:off x="9477375" y="4867275"/>
            <a:ext cx="80938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write-sync, voice v2, iOS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52500" y="7361039"/>
            <a:ext cx="16383000" cy="2259211"/>
          </a:xfrm>
          <a:prstGeom prst="rect">
            <a:avLst/>
          </a:prstGeom>
          <a:solidFill>
            <a:srgbClr val="1B5638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" y="7856339"/>
            <a:ext cx="169316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8FB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 we will not trade away: never show a farmer a number we cannot stand behind.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47800" y="8484989"/>
            <a:ext cx="1693164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42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Khetri — because the right decision, at the right time, is the whole harvest.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2026-08-14T12:59:44Z</dcterms:created>
  <dcterms:modified xsi:type="dcterms:W3CDTF">2026-08-14T12:59:44Z</dcterms:modified>
</cp:coreProperties>
</file>